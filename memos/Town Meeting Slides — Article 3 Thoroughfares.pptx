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602" y="1759306"/>
            <a:ext cx="1460297" cy="1270102"/>
          </a:xfrm>
          <a:prstGeom prst="rect">
            <a:avLst/>
          </a:prstGeom>
          <a:solidFill>
            <a:srgbClr val="2A6390"/>
          </a:solidFill>
          <a:ln/>
        </p:spPr>
      </p:sp>
      <p:sp>
        <p:nvSpPr>
          <p:cNvPr id="3" name="Shape 1"/>
          <p:cNvSpPr/>
          <p:nvPr/>
        </p:nvSpPr>
        <p:spPr>
          <a:xfrm>
            <a:off x="2158898" y="1759306"/>
            <a:ext cx="9334195" cy="1270102"/>
          </a:xfrm>
          <a:prstGeom prst="rect">
            <a:avLst/>
          </a:prstGeom>
          <a:solidFill>
            <a:srgbClr val="367AAC"/>
          </a:solidFill>
          <a:ln/>
        </p:spPr>
      </p:sp>
      <p:sp>
        <p:nvSpPr>
          <p:cNvPr id="4" name="Shape 2"/>
          <p:cNvSpPr/>
          <p:nvPr/>
        </p:nvSpPr>
        <p:spPr>
          <a:xfrm>
            <a:off x="698602" y="3092501"/>
            <a:ext cx="1045159" cy="88697"/>
          </a:xfrm>
          <a:prstGeom prst="rect">
            <a:avLst/>
          </a:prstGeom>
          <a:solidFill>
            <a:srgbClr val="103E66"/>
          </a:solidFill>
          <a:ln/>
        </p:spPr>
      </p:sp>
      <p:sp>
        <p:nvSpPr>
          <p:cNvPr id="5" name="Shape 3"/>
          <p:cNvSpPr/>
          <p:nvPr/>
        </p:nvSpPr>
        <p:spPr>
          <a:xfrm>
            <a:off x="1782166" y="3092501"/>
            <a:ext cx="1045159" cy="88697"/>
          </a:xfrm>
          <a:prstGeom prst="rect">
            <a:avLst/>
          </a:prstGeom>
          <a:solidFill>
            <a:srgbClr val="2E6FA0"/>
          </a:solidFill>
          <a:ln/>
        </p:spPr>
      </p:sp>
      <p:sp>
        <p:nvSpPr>
          <p:cNvPr id="6" name="Shape 4"/>
          <p:cNvSpPr/>
          <p:nvPr/>
        </p:nvSpPr>
        <p:spPr>
          <a:xfrm>
            <a:off x="2864815" y="3092501"/>
            <a:ext cx="1045159" cy="88697"/>
          </a:xfrm>
          <a:prstGeom prst="rect">
            <a:avLst/>
          </a:prstGeom>
          <a:solidFill>
            <a:srgbClr val="4E97C8"/>
          </a:solidFill>
          <a:ln/>
        </p:spPr>
      </p:sp>
      <p:sp>
        <p:nvSpPr>
          <p:cNvPr id="7" name="Shape 5"/>
          <p:cNvSpPr/>
          <p:nvPr/>
        </p:nvSpPr>
        <p:spPr>
          <a:xfrm>
            <a:off x="3948379" y="3092501"/>
            <a:ext cx="1045159" cy="88697"/>
          </a:xfrm>
          <a:prstGeom prst="rect">
            <a:avLst/>
          </a:prstGeom>
          <a:solidFill>
            <a:srgbClr val="74B2D6"/>
          </a:solidFill>
          <a:ln/>
        </p:spPr>
      </p:sp>
      <p:sp>
        <p:nvSpPr>
          <p:cNvPr id="8" name="Shape 6"/>
          <p:cNvSpPr/>
          <p:nvPr/>
        </p:nvSpPr>
        <p:spPr>
          <a:xfrm>
            <a:off x="5031943" y="3092501"/>
            <a:ext cx="1045159" cy="88697"/>
          </a:xfrm>
          <a:prstGeom prst="rect">
            <a:avLst/>
          </a:prstGeom>
          <a:solidFill>
            <a:srgbClr val="9AC8E4"/>
          </a:solidFill>
          <a:ln/>
        </p:spPr>
      </p:sp>
      <p:sp>
        <p:nvSpPr>
          <p:cNvPr id="9" name="Shape 7"/>
          <p:cNvSpPr/>
          <p:nvPr/>
        </p:nvSpPr>
        <p:spPr>
          <a:xfrm>
            <a:off x="6115507" y="3092501"/>
            <a:ext cx="1045159" cy="88697"/>
          </a:xfrm>
          <a:prstGeom prst="rect">
            <a:avLst/>
          </a:prstGeom>
          <a:solidFill>
            <a:srgbClr val="3D4A1F"/>
          </a:solidFill>
          <a:ln/>
        </p:spPr>
      </p:sp>
      <p:sp>
        <p:nvSpPr>
          <p:cNvPr id="10" name="Shape 8"/>
          <p:cNvSpPr/>
          <p:nvPr/>
        </p:nvSpPr>
        <p:spPr>
          <a:xfrm>
            <a:off x="7198157" y="3092501"/>
            <a:ext cx="1045159" cy="88697"/>
          </a:xfrm>
          <a:prstGeom prst="rect">
            <a:avLst/>
          </a:prstGeom>
          <a:solidFill>
            <a:srgbClr val="5E6E33"/>
          </a:solidFill>
          <a:ln/>
        </p:spPr>
      </p:sp>
      <p:sp>
        <p:nvSpPr>
          <p:cNvPr id="11" name="Shape 9"/>
          <p:cNvSpPr/>
          <p:nvPr/>
        </p:nvSpPr>
        <p:spPr>
          <a:xfrm>
            <a:off x="8281721" y="3092501"/>
            <a:ext cx="1045159" cy="88697"/>
          </a:xfrm>
          <a:prstGeom prst="rect">
            <a:avLst/>
          </a:prstGeom>
          <a:solidFill>
            <a:srgbClr val="84934A"/>
          </a:solidFill>
          <a:ln/>
        </p:spPr>
      </p:sp>
      <p:sp>
        <p:nvSpPr>
          <p:cNvPr id="12" name="Shape 10"/>
          <p:cNvSpPr/>
          <p:nvPr/>
        </p:nvSpPr>
        <p:spPr>
          <a:xfrm>
            <a:off x="9365285" y="3092501"/>
            <a:ext cx="1045159" cy="88697"/>
          </a:xfrm>
          <a:prstGeom prst="rect">
            <a:avLst/>
          </a:prstGeom>
          <a:solidFill>
            <a:srgbClr val="A99A4B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47934" y="3092501"/>
            <a:ext cx="1045159" cy="88697"/>
          </a:xfrm>
          <a:prstGeom prst="rect">
            <a:avLst/>
          </a:prstGeom>
          <a:solidFill>
            <a:srgbClr val="C2B777"/>
          </a:solidFill>
          <a:ln/>
        </p:spPr>
      </p:sp>
      <p:sp>
        <p:nvSpPr>
          <p:cNvPr id="14" name="Shape 12"/>
          <p:cNvSpPr/>
          <p:nvPr/>
        </p:nvSpPr>
        <p:spPr>
          <a:xfrm>
            <a:off x="3243377" y="379476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3377" y="417881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16" name="Shape 14"/>
          <p:cNvSpPr/>
          <p:nvPr/>
        </p:nvSpPr>
        <p:spPr>
          <a:xfrm>
            <a:off x="3243377" y="456286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17" name="Shape 15"/>
          <p:cNvSpPr/>
          <p:nvPr/>
        </p:nvSpPr>
        <p:spPr>
          <a:xfrm>
            <a:off x="3243377" y="493776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18" name="Shape 16"/>
          <p:cNvSpPr/>
          <p:nvPr/>
        </p:nvSpPr>
        <p:spPr>
          <a:xfrm>
            <a:off x="3243377" y="532181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8602" y="368503"/>
            <a:ext cx="2616098" cy="235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200" kern="0" dirty="0">
                <a:solidFill>
                  <a:srgbClr val="7C766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NEWCASTLE CORE ZONING CODE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386938" y="368503"/>
            <a:ext cx="1604772" cy="235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25" kern="0" dirty="0">
                <a:solidFill>
                  <a:srgbClr val="4A454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Article 3 · Thoroughfares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8602" y="1333195"/>
            <a:ext cx="11302898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spc="150" kern="0" dirty="0">
                <a:solidFill>
                  <a:srgbClr val="7C766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PROPOSED AMENDMENT TO THE CORE ZONING CODE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98602" y="1917497"/>
            <a:ext cx="14602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ARTICLE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8602" y="2108606"/>
            <a:ext cx="146029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6000" dirty="0"/>
          </a:p>
        </p:txBody>
      </p:sp>
      <p:sp>
        <p:nvSpPr>
          <p:cNvPr id="24" name="Text 22"/>
          <p:cNvSpPr txBox="1"/>
          <p:nvPr/>
        </p:nvSpPr>
        <p:spPr>
          <a:xfrm>
            <a:off x="2527402" y="2000707"/>
            <a:ext cx="6990588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0" spc="150" kern="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THOROUGHFARES</a:t>
            </a:r>
            <a:endParaRPr lang="en-US" sz="6200" dirty="0"/>
          </a:p>
        </p:txBody>
      </p:sp>
      <p:sp>
        <p:nvSpPr>
          <p:cNvPr id="25" name="Text 23"/>
          <p:cNvSpPr txBox="1"/>
          <p:nvPr/>
        </p:nvSpPr>
        <p:spPr>
          <a:xfrm>
            <a:off x="698602" y="3524098"/>
            <a:ext cx="11302898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the article would do — a factual overview</a:t>
            </a:r>
            <a:endParaRPr lang="en-US" sz="2500" dirty="0"/>
          </a:p>
        </p:txBody>
      </p:sp>
      <p:sp>
        <p:nvSpPr>
          <p:cNvPr id="26" name="Text 24"/>
          <p:cNvSpPr txBox="1"/>
          <p:nvPr/>
        </p:nvSpPr>
        <p:spPr>
          <a:xfrm>
            <a:off x="698602" y="4438498"/>
            <a:ext cx="1130289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Special Town Meeting · Monday, September 14, 2026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602" y="1561795"/>
            <a:ext cx="10795406" cy="12802"/>
          </a:xfrm>
          <a:prstGeom prst="rect">
            <a:avLst/>
          </a:prstGeom>
          <a:solidFill>
            <a:srgbClr val="231F20"/>
          </a:solidFill>
          <a:ln/>
        </p:spPr>
      </p:sp>
      <p:sp>
        <p:nvSpPr>
          <p:cNvPr id="3" name="Shape 1"/>
          <p:cNvSpPr/>
          <p:nvPr/>
        </p:nvSpPr>
        <p:spPr>
          <a:xfrm>
            <a:off x="698602" y="2678278"/>
            <a:ext cx="10795406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4" name="Shape 2"/>
          <p:cNvSpPr/>
          <p:nvPr/>
        </p:nvSpPr>
        <p:spPr>
          <a:xfrm>
            <a:off x="698602" y="3604565"/>
            <a:ext cx="10795406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5" name="Shape 3"/>
          <p:cNvSpPr/>
          <p:nvPr/>
        </p:nvSpPr>
        <p:spPr>
          <a:xfrm>
            <a:off x="698602" y="4529938"/>
            <a:ext cx="10795406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6" name="Shape 4"/>
          <p:cNvSpPr/>
          <p:nvPr/>
        </p:nvSpPr>
        <p:spPr>
          <a:xfrm>
            <a:off x="698602" y="5456225"/>
            <a:ext cx="10795406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7" name="Shape 5"/>
          <p:cNvSpPr/>
          <p:nvPr/>
        </p:nvSpPr>
        <p:spPr>
          <a:xfrm>
            <a:off x="3243377" y="379476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8" name="Shape 6"/>
          <p:cNvSpPr/>
          <p:nvPr/>
        </p:nvSpPr>
        <p:spPr>
          <a:xfrm>
            <a:off x="3243377" y="417881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9" name="Shape 7"/>
          <p:cNvSpPr/>
          <p:nvPr/>
        </p:nvSpPr>
        <p:spPr>
          <a:xfrm>
            <a:off x="3243377" y="456286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10" name="Shape 8"/>
          <p:cNvSpPr/>
          <p:nvPr/>
        </p:nvSpPr>
        <p:spPr>
          <a:xfrm>
            <a:off x="3243377" y="493776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11" name="Shape 9"/>
          <p:cNvSpPr/>
          <p:nvPr/>
        </p:nvSpPr>
        <p:spPr>
          <a:xfrm>
            <a:off x="3243377" y="532181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8602" y="368503"/>
            <a:ext cx="2616098" cy="235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200" kern="0" dirty="0">
                <a:solidFill>
                  <a:srgbClr val="7C766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NEWCASTLE CORE ZONING CODE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386938" y="368503"/>
            <a:ext cx="1604772" cy="235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25" kern="0" dirty="0">
                <a:solidFill>
                  <a:srgbClr val="4A454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Article 3 · Thoroughfares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8602" y="888797"/>
            <a:ext cx="11302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75" kern="0" dirty="0">
                <a:solidFill>
                  <a:srgbClr val="367AA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WHAT THE ARTICLE WOULD DO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698602" y="1891894"/>
            <a:ext cx="672998" cy="69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367AA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1270102" y="1891894"/>
            <a:ext cx="10731398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Adds Article 3, Thoroughfares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270102" y="2265883"/>
            <a:ext cx="1073139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4A454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Standards for streets, roads, driveways and entrances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98602" y="2818181"/>
            <a:ext cx="672998" cy="69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367AA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1270102" y="2818181"/>
            <a:ext cx="10731398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Repeals the Road, Driveway, and Entrance Ordinance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270102" y="3191256"/>
            <a:ext cx="1073139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4A454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Adopted November 3, 2020 · in effect since January 1, 2021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8602" y="3743554"/>
            <a:ext cx="672998" cy="69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367AA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1270102" y="3743554"/>
            <a:ext cx="10731398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Renumbers the Articles that follow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270102" y="4117543"/>
            <a:ext cx="1073139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4A454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Site Standards through Definitions become Articles 4–9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98602" y="4669841"/>
            <a:ext cx="672998" cy="69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367AA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1270102" y="4669841"/>
            <a:ext cx="10731398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Makes related changes in Articles 2, 4, 8 and 9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1270102" y="5042916"/>
            <a:ext cx="1073139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4A454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Including new definitions for the terms Article 3 uses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98602" y="5646420"/>
            <a:ext cx="1130289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7C766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Full text: Core Zoning Code, Town Meeting Edition v1.0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98602" y="6324905"/>
            <a:ext cx="17556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3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74166" y="6324905"/>
            <a:ext cx="138989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3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|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13155" y="6324905"/>
            <a:ext cx="186629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67AA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Newcastle Core Zoning Code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657539" y="6324905"/>
            <a:ext cx="2835554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67AA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Special Town Meeting · September 14, 2026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602" y="1561795"/>
            <a:ext cx="10795406" cy="12802"/>
          </a:xfrm>
          <a:prstGeom prst="rect">
            <a:avLst/>
          </a:prstGeom>
          <a:solidFill>
            <a:srgbClr val="231F20"/>
          </a:solidFill>
          <a:ln/>
        </p:spPr>
      </p:sp>
      <p:sp>
        <p:nvSpPr>
          <p:cNvPr id="3" name="Shape 1"/>
          <p:cNvSpPr/>
          <p:nvPr/>
        </p:nvSpPr>
        <p:spPr>
          <a:xfrm>
            <a:off x="698602" y="2151583"/>
            <a:ext cx="5111496" cy="12802"/>
          </a:xfrm>
          <a:prstGeom prst="rect">
            <a:avLst/>
          </a:prstGeom>
          <a:solidFill>
            <a:srgbClr val="231F20"/>
          </a:solidFill>
          <a:ln/>
        </p:spPr>
      </p:sp>
      <p:sp>
        <p:nvSpPr>
          <p:cNvPr id="4" name="Shape 2"/>
          <p:cNvSpPr/>
          <p:nvPr/>
        </p:nvSpPr>
        <p:spPr>
          <a:xfrm>
            <a:off x="698602" y="3076042"/>
            <a:ext cx="1460297" cy="12802"/>
          </a:xfrm>
          <a:prstGeom prst="rect">
            <a:avLst/>
          </a:prstGeom>
          <a:solidFill>
            <a:srgbClr val="231F20"/>
          </a:solidFill>
          <a:ln/>
        </p:spPr>
      </p:sp>
      <p:sp>
        <p:nvSpPr>
          <p:cNvPr id="5" name="Shape 3"/>
          <p:cNvSpPr/>
          <p:nvPr/>
        </p:nvSpPr>
        <p:spPr>
          <a:xfrm>
            <a:off x="2260397" y="3076042"/>
            <a:ext cx="1115568" cy="12802"/>
          </a:xfrm>
          <a:prstGeom prst="rect">
            <a:avLst/>
          </a:prstGeom>
          <a:solidFill>
            <a:srgbClr val="231F20"/>
          </a:solidFill>
          <a:ln/>
        </p:spPr>
      </p:sp>
      <p:sp>
        <p:nvSpPr>
          <p:cNvPr id="6" name="Shape 4"/>
          <p:cNvSpPr/>
          <p:nvPr/>
        </p:nvSpPr>
        <p:spPr>
          <a:xfrm>
            <a:off x="3477463" y="3076042"/>
            <a:ext cx="1115568" cy="12802"/>
          </a:xfrm>
          <a:prstGeom prst="rect">
            <a:avLst/>
          </a:prstGeom>
          <a:solidFill>
            <a:srgbClr val="231F20"/>
          </a:solidFill>
          <a:ln/>
        </p:spPr>
      </p:sp>
      <p:sp>
        <p:nvSpPr>
          <p:cNvPr id="7" name="Shape 5"/>
          <p:cNvSpPr/>
          <p:nvPr/>
        </p:nvSpPr>
        <p:spPr>
          <a:xfrm>
            <a:off x="4694530" y="3076042"/>
            <a:ext cx="1115568" cy="12802"/>
          </a:xfrm>
          <a:prstGeom prst="rect">
            <a:avLst/>
          </a:prstGeom>
          <a:solidFill>
            <a:srgbClr val="231F20"/>
          </a:solidFill>
          <a:ln/>
        </p:spPr>
      </p:sp>
      <p:sp>
        <p:nvSpPr>
          <p:cNvPr id="8" name="Shape 6"/>
          <p:cNvSpPr/>
          <p:nvPr/>
        </p:nvSpPr>
        <p:spPr>
          <a:xfrm>
            <a:off x="698602" y="3546958"/>
            <a:ext cx="1460297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9" name="Shape 7"/>
          <p:cNvSpPr/>
          <p:nvPr/>
        </p:nvSpPr>
        <p:spPr>
          <a:xfrm>
            <a:off x="2260397" y="3546958"/>
            <a:ext cx="1115568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10" name="Shape 8"/>
          <p:cNvSpPr/>
          <p:nvPr/>
        </p:nvSpPr>
        <p:spPr>
          <a:xfrm>
            <a:off x="3477463" y="3546958"/>
            <a:ext cx="1115568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11" name="Shape 9"/>
          <p:cNvSpPr/>
          <p:nvPr/>
        </p:nvSpPr>
        <p:spPr>
          <a:xfrm>
            <a:off x="4694530" y="3546958"/>
            <a:ext cx="1115568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12" name="Shape 10"/>
          <p:cNvSpPr/>
          <p:nvPr/>
        </p:nvSpPr>
        <p:spPr>
          <a:xfrm>
            <a:off x="698602" y="4298594"/>
            <a:ext cx="1460297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13" name="Shape 11"/>
          <p:cNvSpPr/>
          <p:nvPr/>
        </p:nvSpPr>
        <p:spPr>
          <a:xfrm>
            <a:off x="2260397" y="4298594"/>
            <a:ext cx="1115568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14" name="Shape 12"/>
          <p:cNvSpPr/>
          <p:nvPr/>
        </p:nvSpPr>
        <p:spPr>
          <a:xfrm>
            <a:off x="3477463" y="4298594"/>
            <a:ext cx="1115568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15" name="Shape 13"/>
          <p:cNvSpPr/>
          <p:nvPr/>
        </p:nvSpPr>
        <p:spPr>
          <a:xfrm>
            <a:off x="4694530" y="4298594"/>
            <a:ext cx="1115568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16" name="Shape 14"/>
          <p:cNvSpPr/>
          <p:nvPr/>
        </p:nvSpPr>
        <p:spPr>
          <a:xfrm>
            <a:off x="698602" y="5050231"/>
            <a:ext cx="1460297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17" name="Shape 15"/>
          <p:cNvSpPr/>
          <p:nvPr/>
        </p:nvSpPr>
        <p:spPr>
          <a:xfrm>
            <a:off x="2260397" y="5050231"/>
            <a:ext cx="3549701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18" name="Shape 16"/>
          <p:cNvSpPr/>
          <p:nvPr/>
        </p:nvSpPr>
        <p:spPr>
          <a:xfrm>
            <a:off x="6381598" y="2151583"/>
            <a:ext cx="5111496" cy="12802"/>
          </a:xfrm>
          <a:prstGeom prst="rect">
            <a:avLst/>
          </a:prstGeom>
          <a:solidFill>
            <a:srgbClr val="231F20"/>
          </a:solidFill>
          <a:ln/>
        </p:spPr>
      </p:sp>
      <p:sp>
        <p:nvSpPr>
          <p:cNvPr id="19" name="Shape 17"/>
          <p:cNvSpPr/>
          <p:nvPr/>
        </p:nvSpPr>
        <p:spPr>
          <a:xfrm>
            <a:off x="6381598" y="3867912"/>
            <a:ext cx="254203" cy="75895"/>
          </a:xfrm>
          <a:prstGeom prst="rect">
            <a:avLst/>
          </a:prstGeom>
          <a:solidFill>
            <a:srgbClr val="103E66"/>
          </a:solidFill>
          <a:ln/>
        </p:spPr>
      </p:sp>
      <p:sp>
        <p:nvSpPr>
          <p:cNvPr id="20" name="Shape 18"/>
          <p:cNvSpPr/>
          <p:nvPr/>
        </p:nvSpPr>
        <p:spPr>
          <a:xfrm>
            <a:off x="6381598" y="5252314"/>
            <a:ext cx="254203" cy="75895"/>
          </a:xfrm>
          <a:prstGeom prst="rect">
            <a:avLst/>
          </a:prstGeom>
          <a:solidFill>
            <a:srgbClr val="849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6381598" y="5557723"/>
            <a:ext cx="476402" cy="75895"/>
          </a:xfrm>
          <a:prstGeom prst="rect">
            <a:avLst/>
          </a:prstGeom>
          <a:solidFill>
            <a:srgbClr val="103E66"/>
          </a:solidFill>
          <a:ln/>
        </p:spPr>
      </p:sp>
      <p:sp>
        <p:nvSpPr>
          <p:cNvPr id="22" name="Shape 20"/>
          <p:cNvSpPr/>
          <p:nvPr/>
        </p:nvSpPr>
        <p:spPr>
          <a:xfrm>
            <a:off x="6896405" y="5557723"/>
            <a:ext cx="476402" cy="75895"/>
          </a:xfrm>
          <a:prstGeom prst="rect">
            <a:avLst/>
          </a:prstGeom>
          <a:solidFill>
            <a:srgbClr val="2E6FA0"/>
          </a:solidFill>
          <a:ln/>
        </p:spPr>
      </p:sp>
      <p:sp>
        <p:nvSpPr>
          <p:cNvPr id="23" name="Shape 21"/>
          <p:cNvSpPr/>
          <p:nvPr/>
        </p:nvSpPr>
        <p:spPr>
          <a:xfrm>
            <a:off x="7411212" y="5557723"/>
            <a:ext cx="477317" cy="75895"/>
          </a:xfrm>
          <a:prstGeom prst="rect">
            <a:avLst/>
          </a:prstGeom>
          <a:solidFill>
            <a:srgbClr val="4E97C8"/>
          </a:solidFill>
          <a:ln/>
        </p:spPr>
      </p:sp>
      <p:sp>
        <p:nvSpPr>
          <p:cNvPr id="24" name="Shape 22"/>
          <p:cNvSpPr/>
          <p:nvPr/>
        </p:nvSpPr>
        <p:spPr>
          <a:xfrm>
            <a:off x="7926934" y="5557723"/>
            <a:ext cx="476402" cy="75895"/>
          </a:xfrm>
          <a:prstGeom prst="rect">
            <a:avLst/>
          </a:prstGeom>
          <a:solidFill>
            <a:srgbClr val="74B2D6"/>
          </a:solidFill>
          <a:ln/>
        </p:spPr>
      </p:sp>
      <p:sp>
        <p:nvSpPr>
          <p:cNvPr id="25" name="Shape 23"/>
          <p:cNvSpPr/>
          <p:nvPr/>
        </p:nvSpPr>
        <p:spPr>
          <a:xfrm>
            <a:off x="8441741" y="5557723"/>
            <a:ext cx="476402" cy="75895"/>
          </a:xfrm>
          <a:prstGeom prst="rect">
            <a:avLst/>
          </a:prstGeom>
          <a:solidFill>
            <a:srgbClr val="9AC8E4"/>
          </a:solidFill>
          <a:ln/>
        </p:spPr>
      </p:sp>
      <p:sp>
        <p:nvSpPr>
          <p:cNvPr id="26" name="Shape 24"/>
          <p:cNvSpPr/>
          <p:nvPr/>
        </p:nvSpPr>
        <p:spPr>
          <a:xfrm>
            <a:off x="8956548" y="5557723"/>
            <a:ext cx="477317" cy="75895"/>
          </a:xfrm>
          <a:prstGeom prst="rect">
            <a:avLst/>
          </a:prstGeom>
          <a:solidFill>
            <a:srgbClr val="3D4A1F"/>
          </a:solidFill>
          <a:ln/>
        </p:spPr>
      </p:sp>
      <p:sp>
        <p:nvSpPr>
          <p:cNvPr id="27" name="Shape 25"/>
          <p:cNvSpPr/>
          <p:nvPr/>
        </p:nvSpPr>
        <p:spPr>
          <a:xfrm>
            <a:off x="9471355" y="5557723"/>
            <a:ext cx="476402" cy="75895"/>
          </a:xfrm>
          <a:prstGeom prst="rect">
            <a:avLst/>
          </a:prstGeom>
          <a:solidFill>
            <a:srgbClr val="5E6E33"/>
          </a:solidFill>
          <a:ln/>
        </p:spPr>
      </p:sp>
      <p:sp>
        <p:nvSpPr>
          <p:cNvPr id="28" name="Shape 26"/>
          <p:cNvSpPr/>
          <p:nvPr/>
        </p:nvSpPr>
        <p:spPr>
          <a:xfrm>
            <a:off x="9986162" y="5557723"/>
            <a:ext cx="477317" cy="75895"/>
          </a:xfrm>
          <a:prstGeom prst="rect">
            <a:avLst/>
          </a:prstGeom>
          <a:solidFill>
            <a:srgbClr val="84934A"/>
          </a:solidFill>
          <a:ln/>
        </p:spPr>
      </p:sp>
      <p:sp>
        <p:nvSpPr>
          <p:cNvPr id="29" name="Shape 27"/>
          <p:cNvSpPr/>
          <p:nvPr/>
        </p:nvSpPr>
        <p:spPr>
          <a:xfrm>
            <a:off x="10501884" y="5557723"/>
            <a:ext cx="476402" cy="75895"/>
          </a:xfrm>
          <a:prstGeom prst="rect">
            <a:avLst/>
          </a:prstGeom>
          <a:solidFill>
            <a:srgbClr val="A99A4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016691" y="5557723"/>
            <a:ext cx="476402" cy="75895"/>
          </a:xfrm>
          <a:prstGeom prst="rect">
            <a:avLst/>
          </a:prstGeom>
          <a:solidFill>
            <a:srgbClr val="C2B777"/>
          </a:solidFill>
          <a:ln/>
        </p:spPr>
      </p:sp>
      <p:sp>
        <p:nvSpPr>
          <p:cNvPr id="31" name="Shape 29"/>
          <p:cNvSpPr/>
          <p:nvPr/>
        </p:nvSpPr>
        <p:spPr>
          <a:xfrm>
            <a:off x="3243377" y="379476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32" name="Shape 30"/>
          <p:cNvSpPr/>
          <p:nvPr/>
        </p:nvSpPr>
        <p:spPr>
          <a:xfrm>
            <a:off x="3243377" y="417881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33" name="Shape 31"/>
          <p:cNvSpPr/>
          <p:nvPr/>
        </p:nvSpPr>
        <p:spPr>
          <a:xfrm>
            <a:off x="3243377" y="456286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34" name="Shape 32"/>
          <p:cNvSpPr/>
          <p:nvPr/>
        </p:nvSpPr>
        <p:spPr>
          <a:xfrm>
            <a:off x="3243377" y="493776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35" name="Shape 33"/>
          <p:cNvSpPr/>
          <p:nvPr/>
        </p:nvSpPr>
        <p:spPr>
          <a:xfrm>
            <a:off x="3243377" y="532181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pic>
        <p:nvPicPr>
          <p:cNvPr id="36" name="Image 0" descr="/private/tmp/claude-501/-Users-ben-Developer-Claude-Projects-Newcastle-Core-Zoning-Code/d7fb84cb-91f4-422c-8475-bf88f1f8175c/scratchpad/deck/pptx-img/HowSorted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598" y="2724912"/>
            <a:ext cx="3810305" cy="1003097"/>
          </a:xfrm>
          <a:prstGeom prst="rect">
            <a:avLst/>
          </a:prstGeom>
        </p:spPr>
      </p:pic>
      <p:pic>
        <p:nvPicPr>
          <p:cNvPr id="37" name="Image 1" descr="/private/tmp/claude-501/-Users-ben-Developer-Claude-Projects-Newcastle-Core-Zoning-Code/d7fb84cb-91f4-422c-8475-bf88f1f8175c/scratchpad/deck/pptx-img/HowSorted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598" y="4109314"/>
            <a:ext cx="3810305" cy="1003097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698602" y="368503"/>
            <a:ext cx="2616098" cy="235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200" kern="0" dirty="0">
                <a:solidFill>
                  <a:srgbClr val="7C766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NEWCASTLE CORE ZONING CODE</a:t>
            </a:r>
            <a:endParaRPr lang="en-US" sz="1300" dirty="0"/>
          </a:p>
        </p:txBody>
      </p:sp>
      <p:sp>
        <p:nvSpPr>
          <p:cNvPr id="39" name="Text 35"/>
          <p:cNvSpPr txBox="1"/>
          <p:nvPr/>
        </p:nvSpPr>
        <p:spPr>
          <a:xfrm>
            <a:off x="3386938" y="368503"/>
            <a:ext cx="1604772" cy="235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25" kern="0" dirty="0">
                <a:solidFill>
                  <a:srgbClr val="4A454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Article 3 · Thoroughfares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698602" y="888797"/>
            <a:ext cx="11302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75" kern="0" dirty="0">
                <a:solidFill>
                  <a:srgbClr val="367AA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HOW ROADS ARE SORTED</a:t>
            </a:r>
            <a:endParaRPr lang="en-US" sz="4200" dirty="0"/>
          </a:p>
        </p:txBody>
      </p:sp>
      <p:sp>
        <p:nvSpPr>
          <p:cNvPr id="41" name="Text 37"/>
          <p:cNvSpPr txBox="1"/>
          <p:nvPr/>
        </p:nvSpPr>
        <p:spPr>
          <a:xfrm>
            <a:off x="698602" y="1828800"/>
            <a:ext cx="5521147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spc="125" kern="0" dirty="0">
                <a:solidFill>
                  <a:srgbClr val="7C766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TODAY · 2020 ORDINANCE</a:t>
            </a:r>
            <a:endParaRPr lang="en-US" sz="1700" dirty="0"/>
          </a:p>
        </p:txBody>
      </p:sp>
      <p:sp>
        <p:nvSpPr>
          <p:cNvPr id="42" name="Text 38"/>
          <p:cNvSpPr txBox="1"/>
          <p:nvPr/>
        </p:nvSpPr>
        <p:spPr>
          <a:xfrm>
            <a:off x="698602" y="2291486"/>
            <a:ext cx="5521147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By ownership — three standards</a:t>
            </a:r>
            <a:endParaRPr lang="en-US" sz="2100" dirty="0"/>
          </a:p>
        </p:txBody>
      </p:sp>
      <p:sp>
        <p:nvSpPr>
          <p:cNvPr id="43" name="Text 39"/>
          <p:cNvSpPr txBox="1"/>
          <p:nvPr/>
        </p:nvSpPr>
        <p:spPr>
          <a:xfrm>
            <a:off x="2260397" y="2750515"/>
            <a:ext cx="1217066" cy="375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spc="75" kern="0" dirty="0">
                <a:solidFill>
                  <a:srgbClr val="7C766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RIGHT-OF-WAY</a:t>
            </a:r>
            <a:endParaRPr lang="en-US" sz="1200" dirty="0"/>
          </a:p>
        </p:txBody>
      </p:sp>
      <p:sp>
        <p:nvSpPr>
          <p:cNvPr id="44" name="Text 40"/>
          <p:cNvSpPr txBox="1"/>
          <p:nvPr/>
        </p:nvSpPr>
        <p:spPr>
          <a:xfrm>
            <a:off x="3477463" y="2750515"/>
            <a:ext cx="1217066" cy="375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spc="75" kern="0" dirty="0">
                <a:solidFill>
                  <a:srgbClr val="7C766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TRAVEL WAY</a:t>
            </a:r>
            <a:endParaRPr lang="en-US" sz="1200" dirty="0"/>
          </a:p>
        </p:txBody>
      </p:sp>
      <p:sp>
        <p:nvSpPr>
          <p:cNvPr id="45" name="Text 41"/>
          <p:cNvSpPr txBox="1"/>
          <p:nvPr/>
        </p:nvSpPr>
        <p:spPr>
          <a:xfrm>
            <a:off x="4694530" y="2750515"/>
            <a:ext cx="1217066" cy="375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spc="75" kern="0" dirty="0">
                <a:solidFill>
                  <a:srgbClr val="7C766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SURFACE</a:t>
            </a:r>
            <a:endParaRPr lang="en-US" sz="1200" dirty="0"/>
          </a:p>
        </p:txBody>
      </p:sp>
      <p:sp>
        <p:nvSpPr>
          <p:cNvPr id="46" name="Text 42"/>
          <p:cNvSpPr txBox="1"/>
          <p:nvPr/>
        </p:nvSpPr>
        <p:spPr>
          <a:xfrm>
            <a:off x="698602" y="3088843"/>
            <a:ext cx="1577340" cy="509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Public Road</a:t>
            </a:r>
            <a:endParaRPr lang="en-US" sz="1700" dirty="0"/>
          </a:p>
        </p:txBody>
      </p:sp>
      <p:sp>
        <p:nvSpPr>
          <p:cNvPr id="47" name="Text 43"/>
          <p:cNvSpPr txBox="1"/>
          <p:nvPr/>
        </p:nvSpPr>
        <p:spPr>
          <a:xfrm>
            <a:off x="2260397" y="3088843"/>
            <a:ext cx="1217066" cy="509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50 ft</a:t>
            </a:r>
            <a:endParaRPr lang="en-US" sz="1700" dirty="0"/>
          </a:p>
        </p:txBody>
      </p:sp>
      <p:sp>
        <p:nvSpPr>
          <p:cNvPr id="48" name="Text 44"/>
          <p:cNvSpPr txBox="1"/>
          <p:nvPr/>
        </p:nvSpPr>
        <p:spPr>
          <a:xfrm>
            <a:off x="3477463" y="3088843"/>
            <a:ext cx="1217066" cy="509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20 ft</a:t>
            </a:r>
            <a:endParaRPr lang="en-US" sz="1700" dirty="0"/>
          </a:p>
        </p:txBody>
      </p:sp>
      <p:sp>
        <p:nvSpPr>
          <p:cNvPr id="49" name="Text 45"/>
          <p:cNvSpPr txBox="1"/>
          <p:nvPr/>
        </p:nvSpPr>
        <p:spPr>
          <a:xfrm>
            <a:off x="4694530" y="3088843"/>
            <a:ext cx="1217066" cy="509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Paved</a:t>
            </a:r>
            <a:endParaRPr lang="en-US" sz="1700" dirty="0"/>
          </a:p>
        </p:txBody>
      </p:sp>
      <p:sp>
        <p:nvSpPr>
          <p:cNvPr id="50" name="Text 46"/>
          <p:cNvSpPr txBox="1"/>
          <p:nvPr/>
        </p:nvSpPr>
        <p:spPr>
          <a:xfrm>
            <a:off x="698602" y="3559759"/>
            <a:ext cx="15773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Private Road</a:t>
            </a:r>
            <a:endParaRPr lang="en-US" sz="1700" dirty="0"/>
          </a:p>
        </p:txBody>
      </p:sp>
      <p:sp>
        <p:nvSpPr>
          <p:cNvPr id="51" name="Text 47"/>
          <p:cNvSpPr txBox="1"/>
          <p:nvPr/>
        </p:nvSpPr>
        <p:spPr>
          <a:xfrm>
            <a:off x="2260397" y="3559759"/>
            <a:ext cx="1217066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50 ft</a:t>
            </a:r>
            <a:endParaRPr lang="en-US" sz="1700" dirty="0"/>
          </a:p>
        </p:txBody>
      </p:sp>
      <p:sp>
        <p:nvSpPr>
          <p:cNvPr id="52" name="Text 48"/>
          <p:cNvSpPr txBox="1"/>
          <p:nvPr/>
        </p:nvSpPr>
        <p:spPr>
          <a:xfrm>
            <a:off x="3477463" y="3559759"/>
            <a:ext cx="1217066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12 ft</a:t>
            </a:r>
            <a:endParaRPr lang="en-US" sz="1700" dirty="0"/>
          </a:p>
        </p:txBody>
      </p:sp>
      <p:sp>
        <p:nvSpPr>
          <p:cNvPr id="53" name="Text 49"/>
          <p:cNvSpPr txBox="1"/>
          <p:nvPr/>
        </p:nvSpPr>
        <p:spPr>
          <a:xfrm>
            <a:off x="4694530" y="3559759"/>
            <a:ext cx="1217066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Not required</a:t>
            </a:r>
            <a:endParaRPr lang="en-US" sz="1700" dirty="0"/>
          </a:p>
        </p:txBody>
      </p:sp>
      <p:sp>
        <p:nvSpPr>
          <p:cNvPr id="54" name="Text 50"/>
          <p:cNvSpPr txBox="1"/>
          <p:nvPr/>
        </p:nvSpPr>
        <p:spPr>
          <a:xfrm>
            <a:off x="698602" y="4311396"/>
            <a:ext cx="15773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Driveway</a:t>
            </a:r>
            <a:endParaRPr lang="en-US" sz="1700" dirty="0"/>
          </a:p>
        </p:txBody>
      </p:sp>
      <p:sp>
        <p:nvSpPr>
          <p:cNvPr id="55" name="Text 51"/>
          <p:cNvSpPr txBox="1"/>
          <p:nvPr/>
        </p:nvSpPr>
        <p:spPr>
          <a:xfrm>
            <a:off x="2260397" y="4311396"/>
            <a:ext cx="3834079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4A454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design standards — entrance rules only</a:t>
            </a:r>
            <a:endParaRPr lang="en-US" sz="1700" dirty="0"/>
          </a:p>
        </p:txBody>
      </p:sp>
      <p:sp>
        <p:nvSpPr>
          <p:cNvPr id="56" name="Text 52"/>
          <p:cNvSpPr txBox="1"/>
          <p:nvPr/>
        </p:nvSpPr>
        <p:spPr>
          <a:xfrm>
            <a:off x="698602" y="5278831"/>
            <a:ext cx="5521147" cy="56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54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Under Article 3, ownership is recorded separately: Town Way, Public Easement, Private Road, or State Highway.</a:t>
            </a:r>
            <a:endParaRPr lang="en-US" sz="1600" dirty="0"/>
          </a:p>
        </p:txBody>
      </p:sp>
      <p:sp>
        <p:nvSpPr>
          <p:cNvPr id="57" name="Text 53"/>
          <p:cNvSpPr txBox="1"/>
          <p:nvPr/>
        </p:nvSpPr>
        <p:spPr>
          <a:xfrm>
            <a:off x="5972861" y="1828800"/>
            <a:ext cx="5521147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700" b="1" spc="125" kern="0" dirty="0">
                <a:solidFill>
                  <a:srgbClr val="7C766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PROPOSED · ARTICLE 3</a:t>
            </a:r>
            <a:endParaRPr lang="en-US" sz="1700" dirty="0"/>
          </a:p>
        </p:txBody>
      </p:sp>
      <p:sp>
        <p:nvSpPr>
          <p:cNvPr id="58" name="Text 54"/>
          <p:cNvSpPr txBox="1"/>
          <p:nvPr/>
        </p:nvSpPr>
        <p:spPr>
          <a:xfrm>
            <a:off x="5972861" y="2291486"/>
            <a:ext cx="5521147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By setting — ten Types</a:t>
            </a:r>
            <a:endParaRPr lang="en-US" sz="2100" dirty="0"/>
          </a:p>
        </p:txBody>
      </p:sp>
      <p:sp>
        <p:nvSpPr>
          <p:cNvPr id="59" name="Text 55"/>
          <p:cNvSpPr txBox="1"/>
          <p:nvPr/>
        </p:nvSpPr>
        <p:spPr>
          <a:xfrm>
            <a:off x="6711696" y="3779215"/>
            <a:ext cx="1352398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S1 Main Street</a:t>
            </a:r>
            <a:endParaRPr lang="en-US" sz="1600" dirty="0"/>
          </a:p>
        </p:txBody>
      </p:sp>
      <p:sp>
        <p:nvSpPr>
          <p:cNvPr id="60" name="Text 56"/>
          <p:cNvSpPr txBox="1"/>
          <p:nvPr/>
        </p:nvSpPr>
        <p:spPr>
          <a:xfrm>
            <a:off x="8355787" y="3779215"/>
            <a:ext cx="1982419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A454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50–62 ft right-of-way</a:t>
            </a:r>
            <a:endParaRPr lang="en-US" sz="1600" dirty="0"/>
          </a:p>
        </p:txBody>
      </p:sp>
      <p:sp>
        <p:nvSpPr>
          <p:cNvPr id="61" name="Text 57"/>
          <p:cNvSpPr txBox="1"/>
          <p:nvPr/>
        </p:nvSpPr>
        <p:spPr>
          <a:xfrm>
            <a:off x="6711696" y="5163617"/>
            <a:ext cx="1321308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R3 Rural Lane</a:t>
            </a:r>
            <a:endParaRPr lang="en-US" sz="1600" dirty="0"/>
          </a:p>
        </p:txBody>
      </p:sp>
      <p:sp>
        <p:nvSpPr>
          <p:cNvPr id="62" name="Text 58"/>
          <p:cNvSpPr txBox="1"/>
          <p:nvPr/>
        </p:nvSpPr>
        <p:spPr>
          <a:xfrm>
            <a:off x="8360359" y="5163617"/>
            <a:ext cx="1977847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A454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33–50 ft right-of-way</a:t>
            </a:r>
            <a:endParaRPr lang="en-US" sz="1600" dirty="0"/>
          </a:p>
        </p:txBody>
      </p:sp>
      <p:sp>
        <p:nvSpPr>
          <p:cNvPr id="63" name="Text 59"/>
          <p:cNvSpPr txBox="1"/>
          <p:nvPr/>
        </p:nvSpPr>
        <p:spPr>
          <a:xfrm>
            <a:off x="6331306" y="5659222"/>
            <a:ext cx="578815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A454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S1</a:t>
            </a:r>
            <a:endParaRPr lang="en-US" sz="1200" dirty="0"/>
          </a:p>
        </p:txBody>
      </p:sp>
      <p:sp>
        <p:nvSpPr>
          <p:cNvPr id="64" name="Text 60"/>
          <p:cNvSpPr txBox="1"/>
          <p:nvPr/>
        </p:nvSpPr>
        <p:spPr>
          <a:xfrm>
            <a:off x="6846113" y="5659222"/>
            <a:ext cx="578815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A454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S2</a:t>
            </a:r>
            <a:endParaRPr lang="en-US" sz="1200" dirty="0"/>
          </a:p>
        </p:txBody>
      </p:sp>
      <p:sp>
        <p:nvSpPr>
          <p:cNvPr id="65" name="Text 61"/>
          <p:cNvSpPr txBox="1"/>
          <p:nvPr/>
        </p:nvSpPr>
        <p:spPr>
          <a:xfrm>
            <a:off x="7360920" y="5659222"/>
            <a:ext cx="578815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A454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S3</a:t>
            </a:r>
            <a:endParaRPr lang="en-US" sz="1200" dirty="0"/>
          </a:p>
        </p:txBody>
      </p:sp>
      <p:sp>
        <p:nvSpPr>
          <p:cNvPr id="66" name="Text 62"/>
          <p:cNvSpPr txBox="1"/>
          <p:nvPr/>
        </p:nvSpPr>
        <p:spPr>
          <a:xfrm>
            <a:off x="7875727" y="5659222"/>
            <a:ext cx="578815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A454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S4</a:t>
            </a:r>
            <a:endParaRPr lang="en-US" sz="1200" dirty="0"/>
          </a:p>
        </p:txBody>
      </p:sp>
      <p:sp>
        <p:nvSpPr>
          <p:cNvPr id="67" name="Text 63"/>
          <p:cNvSpPr txBox="1"/>
          <p:nvPr/>
        </p:nvSpPr>
        <p:spPr>
          <a:xfrm>
            <a:off x="8390534" y="5659222"/>
            <a:ext cx="578815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A454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S5</a:t>
            </a:r>
            <a:endParaRPr lang="en-US" sz="1200" dirty="0"/>
          </a:p>
        </p:txBody>
      </p:sp>
      <p:sp>
        <p:nvSpPr>
          <p:cNvPr id="68" name="Text 64"/>
          <p:cNvSpPr txBox="1"/>
          <p:nvPr/>
        </p:nvSpPr>
        <p:spPr>
          <a:xfrm>
            <a:off x="8905342" y="5659222"/>
            <a:ext cx="578815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A454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R1</a:t>
            </a:r>
            <a:endParaRPr lang="en-US" sz="1200" dirty="0"/>
          </a:p>
        </p:txBody>
      </p:sp>
      <p:sp>
        <p:nvSpPr>
          <p:cNvPr id="69" name="Text 65"/>
          <p:cNvSpPr txBox="1"/>
          <p:nvPr/>
        </p:nvSpPr>
        <p:spPr>
          <a:xfrm>
            <a:off x="9421063" y="5659222"/>
            <a:ext cx="578815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A454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R2</a:t>
            </a:r>
            <a:endParaRPr lang="en-US" sz="1200" dirty="0"/>
          </a:p>
        </p:txBody>
      </p:sp>
      <p:sp>
        <p:nvSpPr>
          <p:cNvPr id="70" name="Text 66"/>
          <p:cNvSpPr txBox="1"/>
          <p:nvPr/>
        </p:nvSpPr>
        <p:spPr>
          <a:xfrm>
            <a:off x="9935870" y="5659222"/>
            <a:ext cx="578815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A454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R3</a:t>
            </a:r>
            <a:endParaRPr lang="en-US" sz="1200" dirty="0"/>
          </a:p>
        </p:txBody>
      </p:sp>
      <p:sp>
        <p:nvSpPr>
          <p:cNvPr id="71" name="Text 67"/>
          <p:cNvSpPr txBox="1"/>
          <p:nvPr/>
        </p:nvSpPr>
        <p:spPr>
          <a:xfrm>
            <a:off x="10450678" y="5659222"/>
            <a:ext cx="578815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A454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R4</a:t>
            </a:r>
            <a:endParaRPr lang="en-US" sz="1200" dirty="0"/>
          </a:p>
        </p:txBody>
      </p:sp>
      <p:sp>
        <p:nvSpPr>
          <p:cNvPr id="72" name="Text 68"/>
          <p:cNvSpPr txBox="1"/>
          <p:nvPr/>
        </p:nvSpPr>
        <p:spPr>
          <a:xfrm>
            <a:off x="10965485" y="5659222"/>
            <a:ext cx="578815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A454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R5</a:t>
            </a:r>
            <a:endParaRPr lang="en-US" sz="1200" dirty="0"/>
          </a:p>
        </p:txBody>
      </p:sp>
      <p:sp>
        <p:nvSpPr>
          <p:cNvPr id="73" name="Text 69"/>
          <p:cNvSpPr txBox="1"/>
          <p:nvPr/>
        </p:nvSpPr>
        <p:spPr>
          <a:xfrm>
            <a:off x="698602" y="6324905"/>
            <a:ext cx="177394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3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1400" dirty="0"/>
          </a:p>
        </p:txBody>
      </p:sp>
      <p:sp>
        <p:nvSpPr>
          <p:cNvPr id="74" name="Text 70"/>
          <p:cNvSpPr txBox="1"/>
          <p:nvPr/>
        </p:nvSpPr>
        <p:spPr>
          <a:xfrm>
            <a:off x="875995" y="6324905"/>
            <a:ext cx="138989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3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|</a:t>
            </a:r>
            <a:endParaRPr lang="en-US" sz="1400" dirty="0"/>
          </a:p>
        </p:txBody>
      </p:sp>
      <p:sp>
        <p:nvSpPr>
          <p:cNvPr id="75" name="Text 71"/>
          <p:cNvSpPr txBox="1"/>
          <p:nvPr/>
        </p:nvSpPr>
        <p:spPr>
          <a:xfrm>
            <a:off x="1014984" y="6324905"/>
            <a:ext cx="186629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67AA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Newcastle Core Zoning Code</a:t>
            </a:r>
            <a:endParaRPr lang="en-US" sz="1400" dirty="0"/>
          </a:p>
        </p:txBody>
      </p:sp>
      <p:sp>
        <p:nvSpPr>
          <p:cNvPr id="76" name="Text 72"/>
          <p:cNvSpPr txBox="1"/>
          <p:nvPr/>
        </p:nvSpPr>
        <p:spPr>
          <a:xfrm>
            <a:off x="8657539" y="6324905"/>
            <a:ext cx="2835554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67AA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Special Town Meeting · September 14, 2026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602" y="1561795"/>
            <a:ext cx="10795406" cy="12802"/>
          </a:xfrm>
          <a:prstGeom prst="rect">
            <a:avLst/>
          </a:prstGeom>
          <a:solidFill>
            <a:srgbClr val="231F20"/>
          </a:solidFill>
          <a:ln/>
        </p:spPr>
      </p:sp>
      <p:sp>
        <p:nvSpPr>
          <p:cNvPr id="3" name="Shape 1"/>
          <p:cNvSpPr/>
          <p:nvPr/>
        </p:nvSpPr>
        <p:spPr>
          <a:xfrm>
            <a:off x="698602" y="2151583"/>
            <a:ext cx="5111496" cy="12802"/>
          </a:xfrm>
          <a:prstGeom prst="rect">
            <a:avLst/>
          </a:prstGeom>
          <a:solidFill>
            <a:srgbClr val="231F20"/>
          </a:solidFill>
          <a:ln/>
        </p:spPr>
      </p:sp>
      <p:sp>
        <p:nvSpPr>
          <p:cNvPr id="4" name="Shape 2"/>
          <p:cNvSpPr/>
          <p:nvPr/>
        </p:nvSpPr>
        <p:spPr>
          <a:xfrm>
            <a:off x="698602" y="2901391"/>
            <a:ext cx="5111496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5" name="Shape 3"/>
          <p:cNvSpPr/>
          <p:nvPr/>
        </p:nvSpPr>
        <p:spPr>
          <a:xfrm>
            <a:off x="698602" y="3359506"/>
            <a:ext cx="5111496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6" name="Shape 4"/>
          <p:cNvSpPr/>
          <p:nvPr/>
        </p:nvSpPr>
        <p:spPr>
          <a:xfrm>
            <a:off x="698602" y="4109314"/>
            <a:ext cx="5111496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7" name="Shape 5"/>
          <p:cNvSpPr/>
          <p:nvPr/>
        </p:nvSpPr>
        <p:spPr>
          <a:xfrm>
            <a:off x="698602" y="4567428"/>
            <a:ext cx="5111496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8" name="Shape 6"/>
          <p:cNvSpPr/>
          <p:nvPr/>
        </p:nvSpPr>
        <p:spPr>
          <a:xfrm>
            <a:off x="698602" y="5317236"/>
            <a:ext cx="5111496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9" name="Shape 7"/>
          <p:cNvSpPr/>
          <p:nvPr/>
        </p:nvSpPr>
        <p:spPr>
          <a:xfrm>
            <a:off x="6381598" y="2151583"/>
            <a:ext cx="5111496" cy="12802"/>
          </a:xfrm>
          <a:prstGeom prst="rect">
            <a:avLst/>
          </a:prstGeom>
          <a:solidFill>
            <a:srgbClr val="231F20"/>
          </a:solidFill>
          <a:ln/>
        </p:spPr>
      </p:sp>
      <p:sp>
        <p:nvSpPr>
          <p:cNvPr id="10" name="Shape 8"/>
          <p:cNvSpPr/>
          <p:nvPr/>
        </p:nvSpPr>
        <p:spPr>
          <a:xfrm>
            <a:off x="6381598" y="2608783"/>
            <a:ext cx="5111496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11" name="Shape 9"/>
          <p:cNvSpPr/>
          <p:nvPr/>
        </p:nvSpPr>
        <p:spPr>
          <a:xfrm>
            <a:off x="6381598" y="3066898"/>
            <a:ext cx="5111496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12" name="Shape 10"/>
          <p:cNvSpPr/>
          <p:nvPr/>
        </p:nvSpPr>
        <p:spPr>
          <a:xfrm>
            <a:off x="6381598" y="3816706"/>
            <a:ext cx="5111496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13" name="Shape 11"/>
          <p:cNvSpPr/>
          <p:nvPr/>
        </p:nvSpPr>
        <p:spPr>
          <a:xfrm>
            <a:off x="6381598" y="4274820"/>
            <a:ext cx="5111496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14" name="Shape 12"/>
          <p:cNvSpPr/>
          <p:nvPr/>
        </p:nvSpPr>
        <p:spPr>
          <a:xfrm>
            <a:off x="6381598" y="5024628"/>
            <a:ext cx="5111496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3377" y="379476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16" name="Shape 14"/>
          <p:cNvSpPr/>
          <p:nvPr/>
        </p:nvSpPr>
        <p:spPr>
          <a:xfrm>
            <a:off x="3243377" y="417881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17" name="Shape 15"/>
          <p:cNvSpPr/>
          <p:nvPr/>
        </p:nvSpPr>
        <p:spPr>
          <a:xfrm>
            <a:off x="3243377" y="456286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18" name="Shape 16"/>
          <p:cNvSpPr/>
          <p:nvPr/>
        </p:nvSpPr>
        <p:spPr>
          <a:xfrm>
            <a:off x="3243377" y="493776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19" name="Shape 17"/>
          <p:cNvSpPr/>
          <p:nvPr/>
        </p:nvSpPr>
        <p:spPr>
          <a:xfrm>
            <a:off x="3243377" y="532181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8602" y="368503"/>
            <a:ext cx="2616098" cy="235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200" kern="0" dirty="0">
                <a:solidFill>
                  <a:srgbClr val="7C766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NEWCASTLE CORE ZONING CODE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386938" y="368503"/>
            <a:ext cx="1604772" cy="235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25" kern="0" dirty="0">
                <a:solidFill>
                  <a:srgbClr val="4A454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Article 3 · Thoroughfares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8602" y="888797"/>
            <a:ext cx="11302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75" kern="0" dirty="0">
                <a:solidFill>
                  <a:srgbClr val="367AA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WHAT CARRIES OVER — AND WHAT’S NEW</a:t>
            </a:r>
            <a:endParaRPr lang="en-US" sz="4200" dirty="0"/>
          </a:p>
        </p:txBody>
      </p:sp>
      <p:sp>
        <p:nvSpPr>
          <p:cNvPr id="23" name="Text 21"/>
          <p:cNvSpPr txBox="1"/>
          <p:nvPr/>
        </p:nvSpPr>
        <p:spPr>
          <a:xfrm>
            <a:off x="698602" y="1828800"/>
            <a:ext cx="5521147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spc="125" kern="0" dirty="0">
                <a:solidFill>
                  <a:srgbClr val="7C766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CARRIES OVER FROM THE 2020 ORDINANCE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98602" y="2164385"/>
            <a:ext cx="5521147" cy="788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Driveway limit: two single-family homes, or one two-family home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98602" y="2914193"/>
            <a:ext cx="552114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Entrance sight-distance table — same values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98602" y="3372307"/>
            <a:ext cx="5521147" cy="788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Routine maintenance does not trigger the standards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98602" y="4122115"/>
            <a:ext cx="552114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Turnaround required on dead ends over 150 ft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98602" y="4580230"/>
            <a:ext cx="5521147" cy="788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New roads stay private until Town Meeting accepts them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5972861" y="1828800"/>
            <a:ext cx="5521147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700" b="1" spc="125" kern="0" dirty="0">
                <a:solidFill>
                  <a:srgbClr val="7C766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NEW IN ARTICLE 3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5972861" y="2164385"/>
            <a:ext cx="552114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 road segment assigned a Type in advance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5972861" y="2621585"/>
            <a:ext cx="552114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Widths set by Type, not by ownership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5972861" y="3079699"/>
            <a:ext cx="5521147" cy="788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driveway expanded to serve 3–4 homes: safety essentials only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5972861" y="3829507"/>
            <a:ext cx="552114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Protection for significant street trees along Streets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5972861" y="4287622"/>
            <a:ext cx="5521147" cy="788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Maximum grade by Type, 6% to 12% (was 8% public, 10% private)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698602" y="6324905"/>
            <a:ext cx="18288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3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81482" y="6324905"/>
            <a:ext cx="138989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3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|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0470" y="6324905"/>
            <a:ext cx="186629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67AA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Newcastle Core Zoning Code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657539" y="6324905"/>
            <a:ext cx="2835554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67AA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Special Town Meeting · September 14, 2026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602" y="1561795"/>
            <a:ext cx="10795406" cy="12802"/>
          </a:xfrm>
          <a:prstGeom prst="rect">
            <a:avLst/>
          </a:prstGeom>
          <a:solidFill>
            <a:srgbClr val="231F20"/>
          </a:solidFill>
          <a:ln/>
        </p:spPr>
      </p:sp>
      <p:sp>
        <p:nvSpPr>
          <p:cNvPr id="3" name="Shape 1"/>
          <p:cNvSpPr/>
          <p:nvPr/>
        </p:nvSpPr>
        <p:spPr>
          <a:xfrm>
            <a:off x="698602" y="2641702"/>
            <a:ext cx="5111496" cy="12802"/>
          </a:xfrm>
          <a:prstGeom prst="rect">
            <a:avLst/>
          </a:prstGeom>
          <a:solidFill>
            <a:srgbClr val="231F20"/>
          </a:solidFill>
          <a:ln/>
        </p:spPr>
      </p:sp>
      <p:sp>
        <p:nvSpPr>
          <p:cNvPr id="4" name="Shape 2"/>
          <p:cNvSpPr/>
          <p:nvPr/>
        </p:nvSpPr>
        <p:spPr>
          <a:xfrm>
            <a:off x="6381598" y="2641702"/>
            <a:ext cx="5111496" cy="12802"/>
          </a:xfrm>
          <a:prstGeom prst="rect">
            <a:avLst/>
          </a:prstGeom>
          <a:solidFill>
            <a:srgbClr val="231F20"/>
          </a:solidFill>
          <a:ln/>
        </p:spPr>
      </p:sp>
      <p:sp>
        <p:nvSpPr>
          <p:cNvPr id="5" name="Shape 3"/>
          <p:cNvSpPr/>
          <p:nvPr/>
        </p:nvSpPr>
        <p:spPr>
          <a:xfrm>
            <a:off x="6381598" y="3108960"/>
            <a:ext cx="5111496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6" name="Shape 4"/>
          <p:cNvSpPr/>
          <p:nvPr/>
        </p:nvSpPr>
        <p:spPr>
          <a:xfrm>
            <a:off x="6381598" y="3851453"/>
            <a:ext cx="5111496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7" name="Shape 5"/>
          <p:cNvSpPr/>
          <p:nvPr/>
        </p:nvSpPr>
        <p:spPr>
          <a:xfrm>
            <a:off x="6381598" y="4940503"/>
            <a:ext cx="5111496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8" name="Shape 6"/>
          <p:cNvSpPr/>
          <p:nvPr/>
        </p:nvSpPr>
        <p:spPr>
          <a:xfrm>
            <a:off x="3243377" y="379476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9" name="Shape 7"/>
          <p:cNvSpPr/>
          <p:nvPr/>
        </p:nvSpPr>
        <p:spPr>
          <a:xfrm>
            <a:off x="3243377" y="417881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10" name="Shape 8"/>
          <p:cNvSpPr/>
          <p:nvPr/>
        </p:nvSpPr>
        <p:spPr>
          <a:xfrm>
            <a:off x="3243377" y="456286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11" name="Shape 9"/>
          <p:cNvSpPr/>
          <p:nvPr/>
        </p:nvSpPr>
        <p:spPr>
          <a:xfrm>
            <a:off x="3243377" y="493776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12" name="Shape 10"/>
          <p:cNvSpPr/>
          <p:nvPr/>
        </p:nvSpPr>
        <p:spPr>
          <a:xfrm>
            <a:off x="3243377" y="532181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8602" y="368503"/>
            <a:ext cx="2616098" cy="235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200" kern="0" dirty="0">
                <a:solidFill>
                  <a:srgbClr val="7C766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NEWCASTLE CORE ZONING CODE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386938" y="368503"/>
            <a:ext cx="1604772" cy="235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25" kern="0" dirty="0">
                <a:solidFill>
                  <a:srgbClr val="4A454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Article 3 · Thoroughfares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98602" y="888797"/>
            <a:ext cx="11302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75" kern="0" dirty="0">
                <a:solidFill>
                  <a:srgbClr val="367AA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EXISTING ROADS AND DRIVEWAYS</a:t>
            </a:r>
            <a:endParaRPr lang="en-US" sz="4200" dirty="0"/>
          </a:p>
        </p:txBody>
      </p:sp>
      <p:sp>
        <p:nvSpPr>
          <p:cNvPr id="16" name="Text 14"/>
          <p:cNvSpPr txBox="1"/>
          <p:nvPr/>
        </p:nvSpPr>
        <p:spPr>
          <a:xfrm>
            <a:off x="698602" y="1740103"/>
            <a:ext cx="10050170" cy="363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100" b="1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Adopting Article 3 does not require any existing road or driveway to be changed.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0143439" y="1828800"/>
            <a:ext cx="480974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spc="50" kern="0" dirty="0">
                <a:solidFill>
                  <a:srgbClr val="8A847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§1.B.5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8602" y="2318918"/>
            <a:ext cx="3184855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spc="125" kern="0" dirty="0">
                <a:solidFill>
                  <a:srgbClr val="7C766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 DRIVEWAY REMAINS A DRIVEWAY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426050" y="2350922"/>
            <a:ext cx="48554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spc="50" kern="0" dirty="0">
                <a:solidFill>
                  <a:srgbClr val="8A847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§7.C.8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8602" y="2768803"/>
            <a:ext cx="5521147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9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way serving up to two single-family homes, or one two-family home, stays a driveway — whatever name or Type the Inventory lists for it.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98602" y="3872484"/>
            <a:ext cx="5521147" cy="56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54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Ways already serving three or four homes may continue as they are. </a:t>
            </a:r>
            <a:pPr algn="l" indent="0" marL="0">
              <a:lnSpc>
                <a:spcPct val="130000"/>
              </a:lnSpc>
              <a:buNone/>
            </a:pPr>
            <a:r>
              <a:rPr lang="en-US" sz="1400" spc="50" kern="0" dirty="0">
                <a:solidFill>
                  <a:srgbClr val="8A847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§14.C.3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8602" y="4515307"/>
            <a:ext cx="5521147" cy="56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54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Routine maintenance — patching, resealing, replacing a culvert — does not trigger the standards.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972861" y="2318918"/>
            <a:ext cx="5521147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700" b="1" spc="125" kern="0" dirty="0">
                <a:solidFill>
                  <a:srgbClr val="7C766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 TYPE’S STANDARDS APPLY ONLY WHEN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972861" y="2654503"/>
            <a:ext cx="5521147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new road is built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5972861" y="3121762"/>
            <a:ext cx="5521147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road is substantially reconstructed — widened, extended, given sidewalks, or paved from gravel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972861" y="3952951"/>
            <a:ext cx="552114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driveway is expanded to serve more homes: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381598" y="4280306"/>
            <a:ext cx="267005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367AA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151169" y="4280306"/>
            <a:ext cx="5342839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3–4 homes:</a:t>
            </a:r>
            <a:pPr algn="r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4A454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safety essentials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381598" y="4591202"/>
            <a:ext cx="267005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367AA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151169" y="4591202"/>
            <a:ext cx="5342839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 or more, a subdivision, or a Town Way:</a:t>
            </a:r>
            <a:pPr algn="r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4A454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the full Type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98602" y="6324905"/>
            <a:ext cx="17556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3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74166" y="6324905"/>
            <a:ext cx="138989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3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|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013155" y="6324905"/>
            <a:ext cx="186629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67AA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Newcastle Core Zoning Code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657539" y="6324905"/>
            <a:ext cx="2835554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67AA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Special Town Meeting · September 14, 2026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06594" y="2074774"/>
            <a:ext cx="6286500" cy="12802"/>
          </a:xfrm>
          <a:prstGeom prst="rect">
            <a:avLst/>
          </a:prstGeom>
          <a:solidFill>
            <a:srgbClr val="231F20"/>
          </a:solidFill>
          <a:ln/>
        </p:spPr>
      </p:sp>
      <p:sp>
        <p:nvSpPr>
          <p:cNvPr id="3" name="Shape 1"/>
          <p:cNvSpPr/>
          <p:nvPr/>
        </p:nvSpPr>
        <p:spPr>
          <a:xfrm>
            <a:off x="5206594" y="2626157"/>
            <a:ext cx="6286500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4" name="Shape 2"/>
          <p:cNvSpPr/>
          <p:nvPr/>
        </p:nvSpPr>
        <p:spPr>
          <a:xfrm>
            <a:off x="5206594" y="3369564"/>
            <a:ext cx="6286500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5" name="Shape 3"/>
          <p:cNvSpPr/>
          <p:nvPr/>
        </p:nvSpPr>
        <p:spPr>
          <a:xfrm>
            <a:off x="5206594" y="4112971"/>
            <a:ext cx="6286500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6" name="Shape 4"/>
          <p:cNvSpPr/>
          <p:nvPr/>
        </p:nvSpPr>
        <p:spPr>
          <a:xfrm>
            <a:off x="5206594" y="4855464"/>
            <a:ext cx="6286500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7" name="Shape 5"/>
          <p:cNvSpPr/>
          <p:nvPr/>
        </p:nvSpPr>
        <p:spPr>
          <a:xfrm>
            <a:off x="5206594" y="5085893"/>
            <a:ext cx="241402" cy="51206"/>
          </a:xfrm>
          <a:prstGeom prst="rect">
            <a:avLst/>
          </a:prstGeom>
          <a:solidFill>
            <a:srgbClr val="103E66"/>
          </a:solidFill>
          <a:ln/>
        </p:spPr>
      </p:sp>
      <p:sp>
        <p:nvSpPr>
          <p:cNvPr id="8" name="Shape 6"/>
          <p:cNvSpPr/>
          <p:nvPr/>
        </p:nvSpPr>
        <p:spPr>
          <a:xfrm>
            <a:off x="8445398" y="5085893"/>
            <a:ext cx="241402" cy="51206"/>
          </a:xfrm>
          <a:prstGeom prst="rect">
            <a:avLst/>
          </a:prstGeom>
          <a:solidFill>
            <a:srgbClr val="3D4A1F"/>
          </a:solidFill>
          <a:ln/>
        </p:spPr>
      </p:sp>
      <p:sp>
        <p:nvSpPr>
          <p:cNvPr id="9" name="Shape 7"/>
          <p:cNvSpPr/>
          <p:nvPr/>
        </p:nvSpPr>
        <p:spPr>
          <a:xfrm>
            <a:off x="5206594" y="5330038"/>
            <a:ext cx="241402" cy="51206"/>
          </a:xfrm>
          <a:prstGeom prst="rect">
            <a:avLst/>
          </a:prstGeom>
          <a:solidFill>
            <a:srgbClr val="2E6FA0"/>
          </a:solidFill>
          <a:ln/>
        </p:spPr>
      </p:sp>
      <p:sp>
        <p:nvSpPr>
          <p:cNvPr id="10" name="Shape 8"/>
          <p:cNvSpPr/>
          <p:nvPr/>
        </p:nvSpPr>
        <p:spPr>
          <a:xfrm>
            <a:off x="8445398" y="5330038"/>
            <a:ext cx="241402" cy="51206"/>
          </a:xfrm>
          <a:prstGeom prst="rect">
            <a:avLst/>
          </a:prstGeom>
          <a:solidFill>
            <a:srgbClr val="5E6E33"/>
          </a:solidFill>
          <a:ln/>
        </p:spPr>
      </p:sp>
      <p:sp>
        <p:nvSpPr>
          <p:cNvPr id="11" name="Shape 9"/>
          <p:cNvSpPr/>
          <p:nvPr/>
        </p:nvSpPr>
        <p:spPr>
          <a:xfrm>
            <a:off x="5206594" y="5575097"/>
            <a:ext cx="241402" cy="51206"/>
          </a:xfrm>
          <a:prstGeom prst="rect">
            <a:avLst/>
          </a:prstGeom>
          <a:solidFill>
            <a:srgbClr val="4E97C8"/>
          </a:solidFill>
          <a:ln/>
        </p:spPr>
      </p:sp>
      <p:sp>
        <p:nvSpPr>
          <p:cNvPr id="12" name="Shape 10"/>
          <p:cNvSpPr/>
          <p:nvPr/>
        </p:nvSpPr>
        <p:spPr>
          <a:xfrm>
            <a:off x="8445398" y="5575097"/>
            <a:ext cx="241402" cy="51206"/>
          </a:xfrm>
          <a:prstGeom prst="rect">
            <a:avLst/>
          </a:prstGeom>
          <a:solidFill>
            <a:srgbClr val="849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5206594" y="5819242"/>
            <a:ext cx="241402" cy="51206"/>
          </a:xfrm>
          <a:prstGeom prst="rect">
            <a:avLst/>
          </a:prstGeom>
          <a:solidFill>
            <a:srgbClr val="74B2D6"/>
          </a:solidFill>
          <a:ln/>
        </p:spPr>
      </p:sp>
      <p:sp>
        <p:nvSpPr>
          <p:cNvPr id="14" name="Shape 12"/>
          <p:cNvSpPr/>
          <p:nvPr/>
        </p:nvSpPr>
        <p:spPr>
          <a:xfrm>
            <a:off x="8445398" y="5819242"/>
            <a:ext cx="241402" cy="51206"/>
          </a:xfrm>
          <a:prstGeom prst="rect">
            <a:avLst/>
          </a:prstGeom>
          <a:solidFill>
            <a:srgbClr val="A99A4B"/>
          </a:solidFill>
          <a:ln/>
        </p:spPr>
      </p:sp>
      <p:sp>
        <p:nvSpPr>
          <p:cNvPr id="15" name="Shape 13"/>
          <p:cNvSpPr/>
          <p:nvPr/>
        </p:nvSpPr>
        <p:spPr>
          <a:xfrm>
            <a:off x="5206594" y="6064301"/>
            <a:ext cx="241402" cy="51206"/>
          </a:xfrm>
          <a:prstGeom prst="rect">
            <a:avLst/>
          </a:prstGeom>
          <a:solidFill>
            <a:srgbClr val="A2988C"/>
          </a:solidFill>
          <a:ln/>
        </p:spPr>
      </p:sp>
      <p:sp>
        <p:nvSpPr>
          <p:cNvPr id="16" name="Shape 14"/>
          <p:cNvSpPr/>
          <p:nvPr/>
        </p:nvSpPr>
        <p:spPr>
          <a:xfrm>
            <a:off x="8445398" y="6064301"/>
            <a:ext cx="241402" cy="51206"/>
          </a:xfrm>
          <a:prstGeom prst="rect">
            <a:avLst/>
          </a:prstGeom>
          <a:solidFill>
            <a:srgbClr val="C2B777"/>
          </a:solidFill>
          <a:ln/>
        </p:spPr>
      </p:sp>
      <p:sp>
        <p:nvSpPr>
          <p:cNvPr id="17" name="Shape 15"/>
          <p:cNvSpPr/>
          <p:nvPr/>
        </p:nvSpPr>
        <p:spPr>
          <a:xfrm>
            <a:off x="3243377" y="379476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18" name="Shape 16"/>
          <p:cNvSpPr/>
          <p:nvPr/>
        </p:nvSpPr>
        <p:spPr>
          <a:xfrm>
            <a:off x="3243377" y="417881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19" name="Shape 17"/>
          <p:cNvSpPr/>
          <p:nvPr/>
        </p:nvSpPr>
        <p:spPr>
          <a:xfrm>
            <a:off x="3243377" y="456286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20" name="Shape 18"/>
          <p:cNvSpPr/>
          <p:nvPr/>
        </p:nvSpPr>
        <p:spPr>
          <a:xfrm>
            <a:off x="3243377" y="493776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21" name="Shape 19"/>
          <p:cNvSpPr/>
          <p:nvPr/>
        </p:nvSpPr>
        <p:spPr>
          <a:xfrm>
            <a:off x="3243377" y="532181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pic>
        <p:nvPicPr>
          <p:cNvPr id="22" name="Image 0" descr="/private/tmp/claude-501/-Users-ben-Developer-Claude-Projects-Newcastle-Core-Zoning-Code/d7fb84cb-91f4-422c-8475-bf88f1f8175c/scratchpad/deck/pptx-img/Inventory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602" y="1752905"/>
            <a:ext cx="4063594" cy="3980383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98602" y="368503"/>
            <a:ext cx="2616098" cy="235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200" kern="0" dirty="0">
                <a:solidFill>
                  <a:srgbClr val="7C766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NEWCASTLE CORE ZONING CODE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386938" y="368503"/>
            <a:ext cx="1604772" cy="235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25" kern="0" dirty="0">
                <a:solidFill>
                  <a:srgbClr val="4A454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Article 3 · Thoroughfares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98602" y="888797"/>
            <a:ext cx="11302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75" kern="0" dirty="0">
                <a:solidFill>
                  <a:srgbClr val="367AA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INVENTORY AND MAP</a:t>
            </a:r>
            <a:endParaRPr lang="en-US" sz="4200" dirty="0"/>
          </a:p>
        </p:txBody>
      </p:sp>
      <p:sp>
        <p:nvSpPr>
          <p:cNvPr id="26" name="Text 23"/>
          <p:cNvSpPr txBox="1"/>
          <p:nvPr/>
        </p:nvSpPr>
        <p:spPr>
          <a:xfrm>
            <a:off x="698602" y="5797296"/>
            <a:ext cx="43891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C766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Exhibit 3.2, Thoroughfare Type Map — illustrative; the Inventory (Exhibit 3.1) governs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206594" y="1752905"/>
            <a:ext cx="678942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spc="125" kern="0" dirty="0">
                <a:solidFill>
                  <a:srgbClr val="7C766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EVERY ROAD, LISTED IN ADVANCE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5206594" y="2087575"/>
            <a:ext cx="6789420" cy="58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214 road segments on 148 named roads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5206594" y="2638958"/>
            <a:ext cx="67894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segment’s Type is set at adoption — no case-by-case ruling when it is later built or improved </a:t>
            </a:r>
            <a:pPr algn="l" indent="0" marL="0">
              <a:lnSpc>
                <a:spcPct val="128000"/>
              </a:lnSpc>
              <a:buNone/>
            </a:pPr>
            <a:r>
              <a:rPr lang="en-US" sz="1300" spc="50" kern="0" dirty="0">
                <a:solidFill>
                  <a:srgbClr val="8A847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§5.C.6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5206594" y="3382366"/>
            <a:ext cx="67894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72 are recorded as driveways today and shown as D — for reference only </a:t>
            </a:r>
            <a:pPr algn="l" indent="0" marL="0">
              <a:lnSpc>
                <a:spcPct val="128000"/>
              </a:lnSpc>
              <a:buNone/>
            </a:pPr>
            <a:r>
              <a:rPr lang="en-US" sz="1300" spc="50" kern="0" dirty="0">
                <a:solidFill>
                  <a:srgbClr val="8A847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§7.C.8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206594" y="4125773"/>
            <a:ext cx="67894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Type changes only by reclassification — a Planning Board hearing, then Town Meeting </a:t>
            </a:r>
            <a:pPr algn="l" indent="0" marL="0">
              <a:lnSpc>
                <a:spcPct val="128000"/>
              </a:lnSpc>
              <a:buNone/>
            </a:pPr>
            <a:r>
              <a:rPr lang="en-US" sz="1300" spc="50" kern="0" dirty="0">
                <a:solidFill>
                  <a:srgbClr val="8A847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§5.E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5524805" y="5008169"/>
            <a:ext cx="1107338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S1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Main Street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762695" y="5008169"/>
            <a:ext cx="1446581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R1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Connector Road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5524805" y="5252314"/>
            <a:ext cx="1282903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S2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Village Street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8762695" y="5252314"/>
            <a:ext cx="1096366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R2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Rural Road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5524805" y="5497373"/>
            <a:ext cx="1855318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S3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Neighborhood Street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8762695" y="5497373"/>
            <a:ext cx="1081735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R3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Rural Lane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524805" y="5741518"/>
            <a:ext cx="683057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S4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Lane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8762695" y="5741518"/>
            <a:ext cx="1864462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R4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Highway Commercial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5524805" y="5985662"/>
            <a:ext cx="1309421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Driveway today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8762695" y="5985662"/>
            <a:ext cx="1330452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R5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Rural Highway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698602" y="6324905"/>
            <a:ext cx="177394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3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875995" y="6324905"/>
            <a:ext cx="138989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3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|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1014984" y="6324905"/>
            <a:ext cx="186629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67AA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Newcastle Core Zoning Code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8657539" y="6324905"/>
            <a:ext cx="2835554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67AA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Special Town Meeting · September 14, 2026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602" y="1561795"/>
            <a:ext cx="10795406" cy="12802"/>
          </a:xfrm>
          <a:prstGeom prst="rect">
            <a:avLst/>
          </a:prstGeom>
          <a:solidFill>
            <a:srgbClr val="231F20"/>
          </a:solidFill>
          <a:ln/>
        </p:spPr>
      </p:sp>
      <p:sp>
        <p:nvSpPr>
          <p:cNvPr id="3" name="Shape 1"/>
          <p:cNvSpPr/>
          <p:nvPr/>
        </p:nvSpPr>
        <p:spPr>
          <a:xfrm>
            <a:off x="698602" y="2687422"/>
            <a:ext cx="5111496" cy="12802"/>
          </a:xfrm>
          <a:prstGeom prst="rect">
            <a:avLst/>
          </a:prstGeom>
          <a:solidFill>
            <a:srgbClr val="231F20"/>
          </a:solidFill>
          <a:ln/>
        </p:spPr>
      </p:sp>
      <p:sp>
        <p:nvSpPr>
          <p:cNvPr id="4" name="Shape 2"/>
          <p:cNvSpPr/>
          <p:nvPr/>
        </p:nvSpPr>
        <p:spPr>
          <a:xfrm>
            <a:off x="6381598" y="2687422"/>
            <a:ext cx="5111496" cy="12802"/>
          </a:xfrm>
          <a:prstGeom prst="rect">
            <a:avLst/>
          </a:prstGeom>
          <a:solidFill>
            <a:srgbClr val="231F20"/>
          </a:solidFill>
          <a:ln/>
        </p:spPr>
      </p:sp>
      <p:sp>
        <p:nvSpPr>
          <p:cNvPr id="5" name="Shape 3"/>
          <p:cNvSpPr/>
          <p:nvPr/>
        </p:nvSpPr>
        <p:spPr>
          <a:xfrm>
            <a:off x="698602" y="3397910"/>
            <a:ext cx="5111496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6" name="Shape 4"/>
          <p:cNvSpPr/>
          <p:nvPr/>
        </p:nvSpPr>
        <p:spPr>
          <a:xfrm>
            <a:off x="6381598" y="3397910"/>
            <a:ext cx="5111496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7" name="Shape 5"/>
          <p:cNvSpPr/>
          <p:nvPr/>
        </p:nvSpPr>
        <p:spPr>
          <a:xfrm>
            <a:off x="698602" y="4108399"/>
            <a:ext cx="5111496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8" name="Shape 6"/>
          <p:cNvSpPr/>
          <p:nvPr/>
        </p:nvSpPr>
        <p:spPr>
          <a:xfrm>
            <a:off x="6381598" y="4108399"/>
            <a:ext cx="5111496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9" name="Shape 7"/>
          <p:cNvSpPr/>
          <p:nvPr/>
        </p:nvSpPr>
        <p:spPr>
          <a:xfrm>
            <a:off x="698602" y="5028286"/>
            <a:ext cx="5111496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10" name="Shape 8"/>
          <p:cNvSpPr/>
          <p:nvPr/>
        </p:nvSpPr>
        <p:spPr>
          <a:xfrm>
            <a:off x="6381598" y="5028286"/>
            <a:ext cx="5111496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11" name="Shape 9"/>
          <p:cNvSpPr/>
          <p:nvPr/>
        </p:nvSpPr>
        <p:spPr>
          <a:xfrm>
            <a:off x="698602" y="5738774"/>
            <a:ext cx="5111496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12" name="Shape 10"/>
          <p:cNvSpPr/>
          <p:nvPr/>
        </p:nvSpPr>
        <p:spPr>
          <a:xfrm>
            <a:off x="6381598" y="5738774"/>
            <a:ext cx="5111496" cy="12802"/>
          </a:xfrm>
          <a:prstGeom prst="rect">
            <a:avLst/>
          </a:prstGeom>
          <a:solidFill>
            <a:srgbClr val="E2DE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243377" y="379476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14" name="Shape 12"/>
          <p:cNvSpPr/>
          <p:nvPr/>
        </p:nvSpPr>
        <p:spPr>
          <a:xfrm>
            <a:off x="3243377" y="417881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3377" y="456286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16" name="Shape 14"/>
          <p:cNvSpPr/>
          <p:nvPr/>
        </p:nvSpPr>
        <p:spPr>
          <a:xfrm>
            <a:off x="3243377" y="493776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17" name="Shape 15"/>
          <p:cNvSpPr/>
          <p:nvPr/>
        </p:nvSpPr>
        <p:spPr>
          <a:xfrm>
            <a:off x="3243377" y="532181"/>
            <a:ext cx="21946" cy="21946"/>
          </a:xfrm>
          <a:prstGeom prst="ellipse">
            <a:avLst/>
          </a:prstGeom>
          <a:solidFill>
            <a:srgbClr val="B9B3A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8602" y="368503"/>
            <a:ext cx="2616098" cy="235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200" kern="0" dirty="0">
                <a:solidFill>
                  <a:srgbClr val="7C766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NEWCASTLE CORE ZONING CODE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386938" y="368503"/>
            <a:ext cx="1604772" cy="235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25" kern="0" dirty="0">
                <a:solidFill>
                  <a:srgbClr val="4A454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Article 3 · Thoroughfares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8602" y="888797"/>
            <a:ext cx="11302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75" kern="0" dirty="0">
                <a:solidFill>
                  <a:srgbClr val="367AA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WHAT PUBLIC INPUT CHANGED</a:t>
            </a:r>
            <a:endParaRPr lang="en-US" sz="4200" dirty="0"/>
          </a:p>
        </p:txBody>
      </p:sp>
      <p:sp>
        <p:nvSpPr>
          <p:cNvPr id="21" name="Text 19"/>
          <p:cNvSpPr txBox="1"/>
          <p:nvPr/>
        </p:nvSpPr>
        <p:spPr>
          <a:xfrm>
            <a:off x="698602" y="1714500"/>
            <a:ext cx="11302898" cy="56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54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Residents gave input by phone, email, and in conversation before the public hearing on August 20, 2026, and at the hearing itself.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8602" y="2394814"/>
            <a:ext cx="552114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25" kern="0" dirty="0">
                <a:solidFill>
                  <a:srgbClr val="7C766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WHAT WAS RAISED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972861" y="2394814"/>
            <a:ext cx="552114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500" b="1" spc="125" kern="0" dirty="0">
                <a:solidFill>
                  <a:srgbClr val="7C766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WHAT CHANGED IN THE DRAFT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8602" y="2788920"/>
            <a:ext cx="5521147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75" kern="0" dirty="0">
                <a:solidFill>
                  <a:srgbClr val="367AA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BEFORE THE HEARING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98602" y="2998318"/>
            <a:ext cx="5521147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Short “road stubs” on the map are driveways today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972861" y="2700223"/>
            <a:ext cx="5521147" cy="74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Adoption requires no upgrades; any later requirement scales with the number of homes served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8602" y="3499409"/>
            <a:ext cx="5521147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75" kern="0" dirty="0">
                <a:solidFill>
                  <a:srgbClr val="367AA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BEFORE THE HEARING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8602" y="3708806"/>
            <a:ext cx="5521147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Protect mature trees along streets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972861" y="3410712"/>
            <a:ext cx="5521147" cy="74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Significant street trees protected when work is done in the right-of-way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98602" y="4209898"/>
            <a:ext cx="5521147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75" kern="0" dirty="0">
                <a:solidFill>
                  <a:srgbClr val="367AA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PUBLIC HEARING · AUGUST 20, 2026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98602" y="4419295"/>
            <a:ext cx="552114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Would a driveway listed in the Inventory have to be built as a road?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972861" y="4121201"/>
            <a:ext cx="5521147" cy="958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Added “A driveway remains a driveway”; driveways now shown as D in the Inventory and Map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98602" y="5129784"/>
            <a:ext cx="5521147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75" kern="0" dirty="0">
                <a:solidFill>
                  <a:srgbClr val="367AA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AFTER THE HEARING · INCLUDING A RESIDENT’S FIELD RESEARCH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98602" y="5340096"/>
            <a:ext cx="5521147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Which small private ways are really driveways?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5972861" y="5041087"/>
            <a:ext cx="5521147" cy="74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Driveways recorded rose from 4 to 72; Rural Lane (R3) segments from 10 to 76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98602" y="6324905"/>
            <a:ext cx="170993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3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69594" y="6324905"/>
            <a:ext cx="138989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3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|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008583" y="6324905"/>
            <a:ext cx="186629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67AA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Newcastle Core Zoning Code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657539" y="6324905"/>
            <a:ext cx="2835554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67AA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Special Town Meeting · September 14,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Town of Newcastle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Article 3: Thoroughfares</dc:title>
  <dc:subject>Special Town Meeting, September 14, 2026</dc:subject>
  <dc:creator>PptxGenJS</dc:creator>
  <cp:lastModifiedBy>PptxGenJS</cp:lastModifiedBy>
  <cp:revision>1</cp:revision>
  <dcterms:created xsi:type="dcterms:W3CDTF">2026-09-14T20:22:16Z</dcterms:created>
  <dcterms:modified xsi:type="dcterms:W3CDTF">2026-09-14T20:22:16Z</dcterms:modified>
</cp:coreProperties>
</file>